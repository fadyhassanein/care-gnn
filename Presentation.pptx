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 Unified GNN + RL + LLM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for Graph-Based 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1">
                <a:solidFill>
                  <a:srgbClr val="D8D8D8"/>
                </a:solidFill>
                <a:latin typeface="Calibri"/>
              </a:rPr>
              <a:t>Extending CARE-GNN with Learned Policy and LLM Reasoning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3657600" cy="27432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9144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Fady Hassanein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 i="0">
                <a:solidFill>
                  <a:srgbClr val="BBBBBB"/>
                </a:solidFill>
                <a:latin typeface="Calibri"/>
              </a:rPr>
              <a:t>Master's 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1.  Motivation and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38528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2.  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22576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3.  The unified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06624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4. 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90672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5.  Methodology: GNN pillar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6.  Methodology: RL pillar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58768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7.  Methodology: LLM pillar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42816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8.  Unified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26864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9. 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10912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10.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Outline  |  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Why Graph-Based Fraud Detection?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Fraud on review platforms is a multi-billion-dollar problem, and fraudsters rarely act alone. Their social and behavioural structure is exactly the kind of signal graph-based methods are designed to exploit.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 i="0">
                <a:solidFill>
                  <a:srgbClr val="2B3A55"/>
                </a:solidFill>
                <a:latin typeface="Calibri"/>
              </a:rPr>
              <a:t>Online fraud is expensive and networked.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>
                <a:solidFill>
                  <a:srgbClr val="202020"/>
                </a:solidFill>
                <a:latin typeface="Calibri"/>
              </a:rPr>
              <a:t>Fake reviews on Amazon and Yelp distort consumer decisions and merchant revenue.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>
                <a:solidFill>
                  <a:srgbClr val="202020"/>
                </a:solidFill>
                <a:latin typeface="Calibri"/>
              </a:rPr>
              <a:t>Fraudsters don't act alone — they form rings: coordinated users, burst-posted reviews, shared IP ranges, identical text templates.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>
                <a:solidFill>
                  <a:srgbClr val="202020"/>
                </a:solidFill>
                <a:latin typeface="Calibri"/>
              </a:rPr>
              <a:t>A single-user classifier misses the network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515600" cy="12801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B8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149840" cy="10058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>
                <a:solidFill>
                  <a:srgbClr val="EB811B"/>
                </a:solidFill>
                <a:latin typeface="Calibri"/>
              </a:rPr>
              <a:t>Graph Neural Networks (GNNs)</a:t>
            </a:r>
          </a:p>
          <a:p>
            <a:r>
              <a:rPr sz="1500">
                <a:solidFill>
                  <a:srgbClr val="202020"/>
                </a:solidFill>
                <a:latin typeface="Calibri"/>
              </a:rPr>
              <a:t>Exploit this structure by propagating information across user/review relationships, so a node is classified using evidence from its neighbours as well as its own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Motivation  |  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The Camouflage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Even a well-designed GNN can be defeated by fraudsters who deliberately manipulate their features and their connections to blend in with legitimate users. Any serious fraud-detection GNN must model both forms of camouflage.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0" i="0">
                <a:solidFill>
                  <a:srgbClr val="2B3A55"/>
                </a:solidFill>
                <a:latin typeface="Calibri"/>
              </a:rPr>
              <a:t>Fraudsters actively evade detection in two ways: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303520" cy="1645920"/>
          </a:xfrm>
          <a:prstGeom prst="roundRect">
            <a:avLst/>
          </a:prstGeom>
          <a:solidFill>
            <a:srgbClr val="FFF5F0"/>
          </a:solidFill>
          <a:ln w="254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D62728"/>
                </a:solidFill>
                <a:latin typeface="Calibri"/>
              </a:rPr>
              <a:t>Feature camouflage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02020"/>
                </a:solidFill>
                <a:latin typeface="Calibri"/>
              </a:rPr>
              <a:t>Fraudsters mimic legitimate users: normal ratings, plausible review length, boilerplate sentiment.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303520" cy="1645920"/>
          </a:xfrm>
          <a:prstGeom prst="roundRect">
            <a:avLst/>
          </a:prstGeom>
          <a:solidFill>
            <a:srgbClr val="FFF5F0"/>
          </a:solidFill>
          <a:ln w="254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146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D62728"/>
                </a:solidFill>
                <a:latin typeface="Calibri"/>
              </a:rPr>
              <a:t>Relation camouflage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02020"/>
                </a:solidFill>
                <a:latin typeface="Calibri"/>
              </a:rPr>
              <a:t>Fraudsters form ties to benign users to dilute the suspicious signal in neighbourhood aggregation.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A naive GNN aggregates all neighbours and inherits both attacks.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10515600" cy="13716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B8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14984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>
                <a:solidFill>
                  <a:srgbClr val="EB811B"/>
                </a:solidFill>
                <a:latin typeface="Calibri"/>
              </a:rPr>
              <a:t>Research Question</a:t>
            </a:r>
          </a:p>
          <a:p>
            <a:r>
              <a:rPr sz="1500">
                <a:solidFill>
                  <a:srgbClr val="202020"/>
                </a:solidFill>
                <a:latin typeface="Calibri"/>
              </a:rPr>
              <a:t>Can we build a GNN that filters neighbours adaptively, incorporates semantic reasoning, and remains interpretable — without sacrificing scalability or reproducibility?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Motivation  |  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Progression of Fraud-Detection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Fraud detection has evolved through five major waves, each fixing a specific limitation of the previous one. This thesis sits at the rightmost position — combining all the advances of prior generations.</a:t>
            </a:r>
          </a:p>
        </p:txBody>
      </p:sp>
      <p:pic>
        <p:nvPicPr>
          <p:cNvPr id="6" name="Picture 5" descr="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19"/>
            <a:ext cx="11247120" cy="3249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48056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Classical ML: effective baselines, but ignore relational topology.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Deep learning: stronger features, but nodes treated independently.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GNNs: end-to-end relational learning (GCN, GraphSAGE, GAT, …).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GNN + RL: CARE-GNN (Dou et al. 2020) adds a bandit-based neighbour filter.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GNN + LLM: FLAG (Yang et al. 2025) uses text for neighbour sampling.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Literature Review  |  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Each wave above fixed one problem but introduced another. Crucially, no prior work combines structural (GNN), adaptive (RL), and semantic (LLM) reasoning in a single framework — that unfilled slot is the space this thesis occupies.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 i="0">
                <a:solidFill>
                  <a:srgbClr val="2B3A55"/>
                </a:solidFill>
                <a:latin typeface="Calibri"/>
              </a:rPr>
              <a:t>No existing work unifies all three components: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>
                <a:solidFill>
                  <a:srgbClr val="202020"/>
                </a:solidFill>
                <a:latin typeface="Calibri"/>
              </a:rPr>
              <a:t>Existing RL + GNN frameworks (CARE-GNN, RioGNN) use simple heuristic bandits with no semantic state.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>
                <a:solidFill>
                  <a:srgbClr val="202020"/>
                </a:solidFill>
                <a:latin typeface="Calibri"/>
              </a:rPr>
              <a:t>Existing LLM + GNN work (FLAG) augments features or sampling but does not use a learned RL policy for dynamic weighting.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10789920" cy="2468880"/>
          </a:xfrm>
          <a:prstGeom prst="roundRect">
            <a:avLst/>
          </a:prstGeom>
          <a:solidFill>
            <a:srgbClr val="FFF8F0"/>
          </a:solidFill>
          <a:ln w="25400">
            <a:solidFill>
              <a:srgbClr val="EB8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9144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100" b="1" i="0">
                <a:solidFill>
                  <a:srgbClr val="EB811B"/>
                </a:solidFill>
                <a:latin typeface="Calibri"/>
              </a:rPr>
              <a:t>This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 i="0">
                <a:solidFill>
                  <a:srgbClr val="202020"/>
                </a:solidFill>
                <a:latin typeface="Calibri"/>
              </a:rPr>
              <a:t>A unified GNN + RL + LLM framework that combines: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3776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>
                <a:solidFill>
                  <a:srgbClr val="202020"/>
                </a:solidFill>
                <a:latin typeface="Calibri"/>
              </a:rPr>
              <a:t>A multi-relation GNN backbone (CARE-GNN).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>
                <a:solidFill>
                  <a:srgbClr val="202020"/>
                </a:solidFill>
                <a:latin typeface="Calibri"/>
              </a:rPr>
              <a:t>A learned actor–critic RL policy for per-node filtering.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>
                <a:solidFill>
                  <a:srgbClr val="202020"/>
                </a:solidFill>
                <a:latin typeface="Calibri"/>
              </a:rPr>
              <a:t>LLM-derived signals injected into both the policy state and the node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Literature Review  |  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Three-Pillar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The framework is built from three independent pillars that plug into each other through well-defined interfaces. Read bottom-up: raw inputs enter the LLM and RL pillars, which feed their outputs into the GNN pillar, which produces the final fraud probability.</a:t>
            </a:r>
          </a:p>
        </p:txBody>
      </p:sp>
      <p:pic>
        <p:nvPicPr>
          <p:cNvPr id="6" name="Picture 5" descr="three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11430000" cy="60437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Unified Framework  |  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Design Principle: Additive, Attributable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Splitting the framework into three pillars is not just a conceptual choice — it is an engineering decision that lets us measure each pillar's contribution separately, swap pillars without refactoring, and reproduce every result from a single command.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 i="0">
                <a:solidFill>
                  <a:srgbClr val="2B3A55"/>
                </a:solidFill>
                <a:latin typeface="Calibri"/>
              </a:rPr>
              <a:t>Every design choice preserves two interoperability constraints: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>
                <a:solidFill>
                  <a:srgbClr val="202020"/>
                </a:solidFill>
                <a:latin typeface="Calibri"/>
              </a:rPr>
              <a:t>Each pillar enters the framework at a well-defined interface (feature space, policy state, or threshold variable).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>
                <a:solidFill>
                  <a:srgbClr val="202020"/>
                </a:solidFill>
                <a:latin typeface="Calibri"/>
              </a:rPr>
              <a:t>Enabling or disabling a pillar leaves the other two's code unchanged.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 i="0">
                <a:solidFill>
                  <a:srgbClr val="2B3A55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>
                <a:solidFill>
                  <a:srgbClr val="202020"/>
                </a:solidFill>
                <a:latin typeface="Calibri"/>
              </a:rPr>
              <a:t>The three-pillar ablation in Chapter 4 measures each pillar's contribution cleanly (no confounding).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>
                <a:solidFill>
                  <a:srgbClr val="202020"/>
                </a:solidFill>
                <a:latin typeface="Calibri"/>
              </a:rPr>
              <a:t>Reproducibility: each pillar toggle corresponds to a single command-line flag.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>
                <a:solidFill>
                  <a:srgbClr val="202020"/>
                </a:solidFill>
                <a:latin typeface="Calibri"/>
              </a:rPr>
              <a:t>Extensibility: new LLMs or alternative policies slot in without refactoring the backbone.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Unified Framework  |  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Benchmark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We evaluate on two complementary benchmarks. Amazon tests whether each pillar adds value when per-node features already carry most of the signal; YelpChi tests whether the same three pillars combine to beat CARE-GNN when features are weak and the graph carries the signal.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0" y="1828800"/>
          <a:ext cx="8961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7040"/>
                <a:gridCol w="2987040"/>
                <a:gridCol w="2987040"/>
              </a:tblGrid>
              <a:tr h="4343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Amazon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YelpChi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4343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Nodes (total / labelled)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11,944 / 8,639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45,954 / 45,954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25 raw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32 pre-normalised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Fraud rate (labelled)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9.50 %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14.53 %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Relations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UPU, USU, UVU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RUR, RTR, RSR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Max |r|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0.654 (feat. 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0.235 (feat.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Strongest relation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UVU (18.3 / 3.0 %)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RUR (92.5 / 0.4 %)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Review text available?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EB811B"/>
                </a:solidFill>
                <a:latin typeface="Calibri"/>
              </a:rPr>
              <a:t>▸  </a:t>
            </a:r>
            <a:r>
              <a:rPr sz="1200">
                <a:solidFill>
                  <a:srgbClr val="202020"/>
                </a:solidFill>
                <a:latin typeface="Calibri"/>
              </a:rPr>
              <a:t>Amazon: strong features, modest homophily — features already solve most of the problem, so pillar gains are small.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B811B"/>
                </a:solidFill>
                <a:latin typeface="Calibri"/>
              </a:rPr>
              <a:t>▸  </a:t>
            </a:r>
            <a:r>
              <a:rPr sz="1200">
                <a:solidFill>
                  <a:srgbClr val="202020"/>
                </a:solidFill>
                <a:latin typeface="Calibri"/>
              </a:rPr>
              <a:t>YelpChi: weak features; RUR's near-perfect label homophily is the main signal, but RTR / RSR are noisy.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B811B"/>
                </a:solidFill>
                <a:latin typeface="Calibri"/>
              </a:rPr>
              <a:t>▸  </a:t>
            </a:r>
            <a:r>
              <a:rPr sz="1200">
                <a:solidFill>
                  <a:srgbClr val="202020"/>
                </a:solidFill>
                <a:latin typeface="Calibri"/>
              </a:rPr>
              <a:t>All statistics recomputed from the release used in this thesis (verification scripts in the repo).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Datasets  |  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GNN Backbone: CARE-GNN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Our backbone is CARE-GNN (Dou et al. 2020) — a multi-relation GNN specifically designed for fraud detection. Its key idea: rank every neighbour by label agreement before aggregating, so camouflaged edges can be filtered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 i="0">
                <a:solidFill>
                  <a:srgbClr val="2B3A55"/>
                </a:solidFill>
                <a:latin typeface="Calibri"/>
              </a:rPr>
              <a:t>Single-layer, multi-relation GNN with label-aware filtering: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9728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1.  Label predictor  S(v) = MLP(xᵥ) ∈ ℝ²  produces per-node class logits.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9191"/>
            <a:ext cx="109728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2.  Pairwise distance  D(v, v′) = | S(v)[0] − S(v′)[0] |  ranks neighbours by label agreement.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3"/>
            <a:ext cx="109728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3.  Filter: retain the top-pᵣ fraction by distance in each relation 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74136"/>
            <a:ext cx="109728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4.  Intra-relation aggregation: mean of retained neighbours.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21608"/>
            <a:ext cx="109728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5.  Inter-relation aggregation: hᵥ = ReLU( W·hᵥ + Σᵣ pᵣ · W·h_{𝒩(v)}^(r) 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10789920" cy="1554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4241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2CA02C"/>
                </a:solidFill>
                <a:latin typeface="Calibri"/>
              </a:rPr>
              <a:t>What we keep vs replace</a:t>
            </a:r>
          </a:p>
          <a:p>
            <a:r>
              <a:rPr sz="1300">
                <a:solidFill>
                  <a:srgbClr val="202020"/>
                </a:solidFill>
                <a:latin typeface="Calibri"/>
              </a:rPr>
              <a:t>Replace:  step 1 linear predictor → two-layer MLP (CAPN);  step 3 bandit → actor–critic policy.
Keep:  steps 2, 4, 5 unchanged — this is what lets the LLM and RL pillars plug in without breaking the backbone.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GNN Pillar  |  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From Heuristic Bandit to CAPN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CARE-GNN updates its neighbour-filtering thresholds with a simple bandit that is cheap but blind — it uses no node-level state and cannot absorb any external signal. CAPN keeps the idea of adaptive thresholds but replaces the bandit with a learned neural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 i="0">
                <a:solidFill>
                  <a:srgbClr val="2B3A55"/>
                </a:solidFill>
                <a:latin typeface="Calibri"/>
              </a:rPr>
              <a:t>Inherited bandit (CARE-GNN):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Action: pᵣ ← pᵣ ± 0.02, updated once per epoch.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Reward: ±1 based on sign of change in positive-node distance.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Terminal condition: freezes once reward plateaus.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89920" cy="10058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79"/>
            <a:ext cx="104241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D62728"/>
                </a:solidFill>
                <a:latin typeface="Calibri"/>
              </a:rPr>
              <a:t>Five Limitations</a:t>
            </a:r>
          </a:p>
          <a:p>
            <a:r>
              <a:rPr sz="1200">
                <a:solidFill>
                  <a:srgbClr val="202020"/>
                </a:solidFill>
                <a:latin typeface="Calibri"/>
              </a:rPr>
              <a:t>Global (not per-node) thresholds   •   binary reward   •   slow fixed-step updates   •   linear label predictor   •   NO HOOK FOR EXTERNAL (LLM) SIGNALS.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 i="0">
                <a:solidFill>
                  <a:srgbClr val="EB811B"/>
                </a:solidFill>
                <a:latin typeface="Calibri"/>
              </a:rPr>
              <a:t>CAPN (ours): Camouflage-Aware Policy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Enhanced two-layer MLP label predictor with confidence output.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Rich state vector: features + distance + overlap + feature variance + LLM scores.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Beta-distribution policy network → per-node thresholds (rather than per-relation).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Shaped, continuous reward: distance + accuracy + stability.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RL Pillar  |  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Actor–Critic Policy Optimisation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Training a policy network with a single noisy batch reward is unstable — the gradient variance is too high and the policy oscillates (we confirmed this empirically on YelpChi). Using a learned value function as a baseline solves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 i="0">
                <a:solidFill>
                  <a:srgbClr val="202020"/>
                </a:solidFill>
                <a:latin typeface="Calibri"/>
              </a:rPr>
              <a:t>Problem: vanilla REINFORCE has high gradient variance → policy oscillates, YelpChi training diverges.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>
                <a:solidFill>
                  <a:srgbClr val="2B3A55"/>
                </a:solidFill>
                <a:latin typeface="Calibri"/>
              </a:rPr>
              <a:t>Solution: single-step actor–critic with a learned value baseline.</a:t>
            </a:r>
          </a:p>
        </p:txBody>
      </p:sp>
      <p:pic>
        <p:nvPicPr>
          <p:cNvPr id="8" name="Picture 7" descr="actor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9875520" cy="38205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>
                <a:solidFill>
                  <a:srgbClr val="2B3A55"/>
                </a:solidFill>
                <a:latin typeface="Calibri"/>
              </a:rPr>
              <a:t>Training schedule (prevents policy from learning on a noisy, untrained backbone):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EB811B"/>
                </a:solidFill>
                <a:latin typeface="Calibri"/>
              </a:rPr>
              <a:t>▸  </a:t>
            </a:r>
            <a:r>
              <a:rPr sz="1200">
                <a:solidFill>
                  <a:srgbClr val="202020"/>
                </a:solidFill>
                <a:latin typeface="Calibri"/>
              </a:rPr>
              <a:t>Epochs 0–5 (GNN warmup):   λπ = 0, only supervised loss runs.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B811B"/>
                </a:solidFill>
                <a:latin typeface="Calibri"/>
              </a:rPr>
              <a:t>▸  </a:t>
            </a:r>
            <a:r>
              <a:rPr sz="1200">
                <a:solidFill>
                  <a:srgbClr val="202020"/>
                </a:solidFill>
                <a:latin typeface="Calibri"/>
              </a:rPr>
              <a:t>Epochs 5–10 (policy ramp):   linearly anneal λπ from 0 to 0.3.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B811B"/>
                </a:solidFill>
                <a:latin typeface="Calibri"/>
              </a:rPr>
              <a:t>▸  </a:t>
            </a:r>
            <a:r>
              <a:rPr sz="1200">
                <a:solidFill>
                  <a:srgbClr val="202020"/>
                </a:solidFill>
                <a:latin typeface="Calibri"/>
              </a:rPr>
              <a:t>Epochs 10–31:   full policy training at λπ = 0.3.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RL Pillar  |  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LLM as Reasoning Engine, Not Text 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Our first experiments tried the obvious thing — plug sentence-transformer embeddings into the policy state — and it failed. Our LLM pillar instead uses the LLM as a reasoning engine that emits compact, fraud-specific signals, not as a generic text encoder.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B3A55"/>
                </a:solidFill>
                <a:latin typeface="Calibri"/>
              </a:rPr>
              <a:t>Why not sentence-transformer embeddings?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Study A6 tried this on Amazon: 384-dim MiniLM embeddings projected into the policy state.  Result: −0.19 pp AUC (FAILED).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Root cause: lossy round-trip converts precise numerics (degree = 23) into text and back, destroying the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 i="0">
                <a:solidFill>
                  <a:srgbClr val="2B3A55"/>
                </a:solidFill>
                <a:latin typeface="Calibri"/>
              </a:rPr>
              <a:t>Our approach: use Claude Haiku 4.5 as a reasoning engine. Two complementary signal streams: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3977639"/>
          <a:ext cx="93268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3108960"/>
              </a:tblGrid>
              <a:tr h="49149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Part 1 (both datasets)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Part 2 (YelpChi only)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49149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Input to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26 graph statistics per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raw review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6 structural risk scores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6 text risk scores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9149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Entry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CAPN state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node features (via gate)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All LLM scores are precomputed once and loaded as tensors — no API calls inside the training loop (reproducibility + cost).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LLM Pillar  |  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Part 1: Structural Reasoning Scores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For every node we compute 26 graph statistics (degrees, overlaps, z-scores, ego-density, 2-hop reach …) and ask Claude to return six fraud-relevant risk assessments. These scores enter the CAPN state so the policy can condition on LLM-level reasoning about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 i="0">
                <a:solidFill>
                  <a:srgbClr val="2B3A55"/>
                </a:solidFill>
                <a:latin typeface="Calibri"/>
              </a:rPr>
              <a:t>26 graph statistics per node  →  Claude Haiku 4.5  →  6 risk scores: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97280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EB811B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2B3A55"/>
                </a:solidFill>
                <a:latin typeface="Calibri"/>
              </a:rPr>
              <a:t>structural_anomaly</a:t>
            </a:r>
            <a:r>
              <a:rPr sz="1200" b="0" i="0">
                <a:solidFill>
                  <a:srgbClr val="202020"/>
                </a:solidFill>
                <a:latin typeface="Calibri"/>
              </a:rPr>
              <a:t>  —  unusual connectivity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097280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EB811B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2B3A55"/>
                </a:solidFill>
                <a:latin typeface="Calibri"/>
              </a:rPr>
              <a:t>relation_consistency</a:t>
            </a:r>
            <a:r>
              <a:rPr sz="1200" b="0" i="0">
                <a:solidFill>
                  <a:srgbClr val="202020"/>
                </a:solidFill>
                <a:latin typeface="Calibri"/>
              </a:rPr>
              <a:t>  —  uniform behaviour across relations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35224"/>
            <a:ext cx="1097280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EB811B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2B3A55"/>
                </a:solidFill>
                <a:latin typeface="Calibri"/>
              </a:rPr>
              <a:t>neighborhood_risk</a:t>
            </a:r>
            <a:r>
              <a:rPr sz="1200" b="0" i="0">
                <a:solidFill>
                  <a:srgbClr val="202020"/>
                </a:solidFill>
                <a:latin typeface="Calibri"/>
              </a:rPr>
              <a:t>  —  suspicious neighbours (training-label stats)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1097280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EB811B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2B3A55"/>
                </a:solidFill>
                <a:latin typeface="Calibri"/>
              </a:rPr>
              <a:t>feature_anomaly</a:t>
            </a:r>
            <a:r>
              <a:rPr sz="1200" b="0" i="0">
                <a:solidFill>
                  <a:srgbClr val="202020"/>
                </a:solidFill>
                <a:latin typeface="Calibri"/>
              </a:rPr>
              <a:t>  —  statistical feature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38728"/>
            <a:ext cx="1097280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EB811B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2B3A55"/>
                </a:solidFill>
                <a:latin typeface="Calibri"/>
              </a:rPr>
              <a:t>coordination_signal</a:t>
            </a:r>
            <a:r>
              <a:rPr sz="1200" b="0" i="0">
                <a:solidFill>
                  <a:srgbClr val="202020"/>
                </a:solidFill>
                <a:latin typeface="Calibri"/>
              </a:rPr>
              <a:t>  —  likelihood of coordinated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97280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EB811B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2B3A55"/>
                </a:solidFill>
                <a:latin typeface="Calibri"/>
              </a:rPr>
              <a:t>isolation_score</a:t>
            </a:r>
            <a:r>
              <a:rPr sz="1200" b="0" i="0">
                <a:solidFill>
                  <a:srgbClr val="202020"/>
                </a:solidFill>
                <a:latin typeface="Calibri"/>
              </a:rPr>
              <a:t>  —  peripheral vs deeply embedded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789920" cy="13716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1042416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  <a:latin typeface="Calibri"/>
              </a:rPr>
              <a:t>Why LLM over a linear formula?</a:t>
            </a:r>
          </a:p>
          <a:p>
            <a:r>
              <a:rPr sz="1200">
                <a:solidFill>
                  <a:srgbClr val="202020"/>
                </a:solidFill>
                <a:latin typeface="Calibri"/>
              </a:rPr>
              <a:t>The LLM reasons about interactions: 'high ego-density combined with high label disagreement in a single relation' signals a fraud ring — a linear formula misses that conjunction. Study A7 confirms this beats the template-formula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Integration:  6-score vector → linear projector → 16-dim eᵥ  concatenated into CAPN state.  State grows  D+5 → D+21.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LLM Pillar  |  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Part 2: Text-Risk Scoring and Gated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On YelpChi each review has a body of text. We score each review for fraud-specific linguistic signals — but concatenating those scores to node features hurts performance (Study A8). A learnable gated residual lets the network admit as much text signal as training finds useful.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 i="0">
                <a:solidFill>
                  <a:srgbClr val="2B3A55"/>
                </a:solidFill>
                <a:latin typeface="Calibri"/>
              </a:rPr>
              <a:t>YelpChi only (Amazon ships no review text). Six fraud-specific text scores per review: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generic_language  •  sentiment_mismatch  •  promotional_tone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copy_paste_signal  •  detail_authenticity  •  behavioral_anomaly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1">
                <a:solidFill>
                  <a:srgbClr val="D62728"/>
                </a:solidFill>
                <a:latin typeface="Calibri"/>
              </a:rPr>
              <a:t>How not to inject:  Study A8 concatenated scores to features → −0.59 pp AUC (wider weight matrix absorbs noise).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>
                <a:solidFill>
                  <a:srgbClr val="EB811B"/>
                </a:solidFill>
                <a:latin typeface="Calibri"/>
              </a:rPr>
              <a:t>TextFeatureGate (ours): residual with learnable per-dim sigmoid gate.</a:t>
            </a:r>
          </a:p>
        </p:txBody>
      </p:sp>
      <p:pic>
        <p:nvPicPr>
          <p:cNvPr id="10" name="Picture 9" descr="text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160520"/>
            <a:ext cx="8961120" cy="27154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7607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EB811B"/>
                </a:solidFill>
                <a:latin typeface="Calibri"/>
              </a:rPr>
              <a:t>▸  </a:t>
            </a:r>
            <a:r>
              <a:rPr sz="1200">
                <a:solidFill>
                  <a:srgbClr val="202020"/>
                </a:solidFill>
                <a:latin typeface="Calibri"/>
              </a:rPr>
              <a:t>Preserves original feature dimension  ℝ³² → ℝ³²  (downstream code unchanged).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B811B"/>
                </a:solidFill>
                <a:latin typeface="Calibri"/>
              </a:rPr>
              <a:t>▸  </a:t>
            </a:r>
            <a:r>
              <a:rPr sz="1200">
                <a:solidFill>
                  <a:srgbClr val="202020"/>
                </a:solidFill>
                <a:latin typeface="Calibri"/>
              </a:rPr>
              <a:t>Gate starts near zero: initial behaviour ≈ CARE-GNN — safe initialisation.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B811B"/>
                </a:solidFill>
                <a:latin typeface="Calibri"/>
              </a:rPr>
              <a:t>▸  </a:t>
            </a:r>
            <a:r>
              <a:rPr sz="1200">
                <a:solidFill>
                  <a:srgbClr val="202020"/>
                </a:solidFill>
                <a:latin typeface="Calibri"/>
              </a:rPr>
              <a:t>Training can unlearn harmful dimensions by pushing g → −∞.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LLM Pillar  |  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Joint Training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All three pillars are trained end-to-end under a single loss function that combines supervised classification, label-agreement supervision, policy gradient, and critic regression. Two independent Adam optimisers keep the different time-scales separated.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B3A55"/>
                </a:solidFill>
                <a:latin typeface="Calibri"/>
              </a:rPr>
              <a:t>Single end-to-end loss combining all four signals:</a:t>
            </a:r>
          </a:p>
        </p:txBody>
      </p:sp>
      <p:pic>
        <p:nvPicPr>
          <p:cNvPr id="7" name="Picture 6" descr="unified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77440"/>
            <a:ext cx="9784080" cy="17716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B3A55"/>
                </a:solidFill>
                <a:latin typeface="Calibri"/>
              </a:rPr>
              <a:t>Dual-optimiser setup: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>
                <a:solidFill>
                  <a:srgbClr val="202020"/>
                </a:solidFill>
                <a:latin typeface="Calibri"/>
              </a:rPr>
              <a:t>Backbone optimiser:  Adam,  LR 10⁻²,  clip max-norm 1.0.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>
                <a:solidFill>
                  <a:srgbClr val="202020"/>
                </a:solidFill>
                <a:latin typeface="Calibri"/>
              </a:rPr>
              <a:t>Policy / critic optimiser:  Adam,  policy LR 3·10⁻³,  critic LR 10⁻³,  clip max-norm 5.0.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15000"/>
            <a:ext cx="10789920" cy="8686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B8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424160" cy="5943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EB811B"/>
                </a:solidFill>
                <a:latin typeface="Calibri"/>
              </a:rPr>
              <a:t>Why two optimisers?</a:t>
            </a:r>
          </a:p>
          <a:p>
            <a:r>
              <a:rPr sz="1200">
                <a:solidFill>
                  <a:srgbClr val="202020"/>
                </a:solidFill>
                <a:latin typeface="Calibri"/>
              </a:rPr>
              <a:t>The actor–critic and the backbone converge on different timescales — a single learning rate destabilises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Unified Training  |  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Experimental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All experiments follow the same protocol — stratified splits, fixed 31-epoch budget, best-validation checkpointing, and multiple seeds on YelpChi. The goal is a statistically honest comparison between pillar configurations, not best-of-single-run cherry-picking.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>
                <a:solidFill>
                  <a:srgbClr val="202020"/>
                </a:solidFill>
                <a:latin typeface="Calibri"/>
              </a:rPr>
              <a:t>Splits:  stratified  25 % / 15 % / 60 %  train / val / test.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>
                <a:solidFill>
                  <a:srgbClr val="202020"/>
                </a:solidFill>
                <a:latin typeface="Calibri"/>
              </a:rPr>
              <a:t>Epochs:  31;  best-validation-AUC checkpoint per run.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>
                <a:solidFill>
                  <a:srgbClr val="202020"/>
                </a:solidFill>
                <a:latin typeface="Calibri"/>
              </a:rPr>
              <a:t>Seeds:  three seeds {72, 73, 74} on YelpChi (mean ± std);  single seed 72 for Amazon ablations.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>
                <a:solidFill>
                  <a:srgbClr val="202020"/>
                </a:solidFill>
                <a:latin typeface="Calibri"/>
              </a:rPr>
              <a:t>Metrics:  AUC-ROC and Average Precision (primary);  F1-macro, Precision, Recall (secondary).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789920" cy="10972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B8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424160" cy="8229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EB811B"/>
                </a:solidFill>
                <a:latin typeface="Calibri"/>
              </a:rPr>
              <a:t>Thesis claim tested</a:t>
            </a:r>
          </a:p>
          <a:p>
            <a:r>
              <a:rPr sz="1600">
                <a:solidFill>
                  <a:srgbClr val="202020"/>
                </a:solidFill>
                <a:latin typeface="Calibri"/>
              </a:rPr>
              <a:t>The three-pillar combination (GNN + RL + LLM) significantly outperforms CARE-GNN on YelpChi.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Results  |  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Headline Result — YelpChi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  <a:latin typeface="Calibri"/>
              </a:rPr>
              <a:t>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27432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600" b="1" i="0">
                <a:solidFill>
                  <a:srgbClr val="EB811B"/>
                </a:solidFill>
                <a:latin typeface="Calibri"/>
              </a:rPr>
              <a:t>0.7856 ± 0.0022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  <a:latin typeface="Calibri"/>
              </a:rPr>
              <a:t>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27432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600" b="1" i="0">
                <a:solidFill>
                  <a:srgbClr val="EB811B"/>
                </a:solidFill>
                <a:latin typeface="Calibri"/>
              </a:rPr>
              <a:t>0.4108 ± 0.0052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  <a:latin typeface="Calibri"/>
              </a:rPr>
              <a:t>F1-macro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194560"/>
            <a:ext cx="27432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600" b="1" i="0">
                <a:solidFill>
                  <a:srgbClr val="EB811B"/>
                </a:solidFill>
                <a:latin typeface="Calibri"/>
              </a:rPr>
              <a:t>0.6099 ± 0.0565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749039"/>
            <a:ext cx="9418320" cy="27432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 i="0">
                <a:solidFill>
                  <a:srgbClr val="2CA02C"/>
                </a:solidFill>
                <a:latin typeface="Calibri"/>
              </a:rPr>
              <a:t>+1.99 pp  AUC over our CARE-GNN reproduction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 i="0">
                <a:solidFill>
                  <a:srgbClr val="2CA02C"/>
                </a:solidFill>
                <a:latin typeface="Calibri"/>
              </a:rPr>
              <a:t>+2.86 pp  AUC over Dou et al. (2020) published CARE-GNN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0" i="1">
                <a:solidFill>
                  <a:srgbClr val="202020"/>
                </a:solidFill>
                <a:latin typeface="Calibri"/>
              </a:rPr>
              <a:t>Welch's t-test:  p &lt; 0.001  across three seeds.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Results  |  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Main Table — Three-Pillar Ablation on YelpChi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Four rows, each turning exactly one pillar on or off. The transitions Row 1 → 2, 1 → 3, and 3 → 4 each attribute a specific design decision to a measurable AUC delta.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7899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20624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F1-macro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420624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Row 1: GNN only (CARE-GNN)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0.7657 ± 0.0007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0.3766 ± 0.0038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0.5948 ± 0.0263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Row 2: GNN + RL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0.7681 ± 0.0005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0.3837 ± 0.0007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0.5968 ± 0.0109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Row 3: GNN +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0.7797 ± 0.0038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0.3983 ± 0.0146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0.5927 ± 0.0578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Row 4: GNN + RL + LLM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0.7856 ± 0.0022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0.4108 ± 0.0052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0.6099 ± 0.0565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 i="0">
                <a:solidFill>
                  <a:srgbClr val="2B3A55"/>
                </a:solidFill>
                <a:latin typeface="Calibri"/>
              </a:rPr>
              <a:t>Component contributions (mean AUC):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CA02C"/>
                </a:solidFill>
                <a:latin typeface="Calibri"/>
              </a:rPr>
              <a:t>+0.24 pp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  Row 1 → Row 2:  RL pillar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CA02C"/>
                </a:solidFill>
                <a:latin typeface="Calibri"/>
              </a:rPr>
              <a:t>+1.40 pp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  Row 1 → Row 3:  LLM pillar alone (dominant contributor).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CA02C"/>
                </a:solidFill>
                <a:latin typeface="Calibri"/>
              </a:rPr>
              <a:t>+0.59 pp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  Row 3 → Row 4:  RL on top of LLM (stabilises and lifts).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Worst seed of Row 4 (0.7828) already beats best seed of Row 1 (0.7663) by +1.65 pp — the improvement is robust, not a lucky seed.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Results  |  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Statistical Significance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With only three seeds the mean differences must be stress-tested. Welch's t-test shows the Full-vs-CARE-GNN improvement is far beyond noise; the incremental RL-on-top-of-LLM contribution is at the border of conventional significance — as expected with three seeds.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 i="0">
                <a:solidFill>
                  <a:srgbClr val="2B3A55"/>
                </a:solidFill>
                <a:latin typeface="Calibri"/>
              </a:rPr>
              <a:t>Two-sided Welch's t-test (three seeds):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2286000"/>
          <a:ext cx="10058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ΔAUC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Row 4 vs Row 1  (Full vs CARE-GNN)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+1.99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≈ 12.4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Row 4 vs Row 2  (Full vs RL only)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+1.75 pp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≈ 11.7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Row 4 vs Row 3  (Full vs LLM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+0.59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≈ 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≈ 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66344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>
                <a:solidFill>
                  <a:srgbClr val="202020"/>
                </a:solidFill>
                <a:latin typeface="Calibri"/>
              </a:rPr>
              <a:t>The full framework is significantly better than CARE-GNN AND than the RL-only variant.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>
                <a:solidFill>
                  <a:srgbClr val="202020"/>
                </a:solidFill>
                <a:latin typeface="Calibri"/>
              </a:rPr>
              <a:t>RL-on-top-of-LLM is at the border of conventional significance — would be strengthened by expanding the seed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Results  |  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Comparison with the CARE-GNN Paper (YelpChi)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Our full framework also improves over the original CARE-GNN paper's reported AUC by +2.86 pp — larger than the gain over our own Row 1, because our reproduction is already a stronger CARE-GNN baseline than the published one.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1828800"/>
          <a:ext cx="8686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2895600"/>
                <a:gridCol w="2895600"/>
              </a:tblGrid>
              <a:tr h="42976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42976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GCN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0.5247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0.5081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GAT *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0.5624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0.5452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GraphSAGE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0.5400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0.5286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GraphConsis *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0.6207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0.6208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CARE-GNN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0.7570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0.7192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Our Row 1 (CARE-GNN reproduction)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0.7657 ± 0.0007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0.6987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Our Row 2 (GNN + RL)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0.7681 ± 0.0005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0.6967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Our Row 3 (GNN + LLM)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0.7797 ± 0.0038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0.6774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Our Row 4 (GNN + RL + LLM)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0.7856 ± 0.0022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0.6923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172200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*  paper-reported values, Dou et al. (2020) Table 3, 40 % training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 i="0">
                <a:solidFill>
                  <a:srgbClr val="2CA02C"/>
                </a:solidFill>
                <a:latin typeface="Calibri"/>
              </a:rPr>
              <a:t>Our full framework improves AUC by +2.86 pp over the paper-reported CARE-GNN.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Results  |  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Amazon Component Ablations (A1–A9)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Nine Amazon ablations attribute a single design decision per study. Two of them (A6, A8) are FAILED configurations — they were just as important, because their negative results drove the specific design choices that produced the final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94360" cy="41148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4767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4937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 i="0">
                <a:solidFill>
                  <a:srgbClr val="2B3A55"/>
                </a:solidFill>
                <a:latin typeface="Calibri"/>
              </a:rPr>
              <a:t>CAPN vs bandit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67712"/>
            <a:ext cx="49377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+0.47 pp AUC over CARE-GNN; Label AUC +5.20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594360" cy="41148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4767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 i="0">
                <a:solidFill>
                  <a:srgbClr val="2B3A55"/>
                </a:solidFill>
                <a:latin typeface="Calibri"/>
              </a:rPr>
              <a:t>Label predictor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267712"/>
            <a:ext cx="49377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MLP alone hurts AUC (−0.77 pp); needs policy to realise the 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61488"/>
            <a:ext cx="594360" cy="41148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61488"/>
            <a:ext cx="4937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 i="0">
                <a:solidFill>
                  <a:srgbClr val="2B3A55"/>
                </a:solidFill>
                <a:latin typeface="Calibri"/>
              </a:rPr>
              <a:t>Reward shaping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08960"/>
            <a:ext cx="49377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Any continuous reward beats binary; specific decomposition barely matters.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61488"/>
            <a:ext cx="594360" cy="41148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8892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761488"/>
            <a:ext cx="4937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 i="0">
                <a:solidFill>
                  <a:srgbClr val="2B3A55"/>
                </a:solidFill>
                <a:latin typeface="Calibri"/>
              </a:rPr>
              <a:t>LLM priors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108960"/>
            <a:ext cx="49377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Best single configuration; +0.81 pp Precision.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02736"/>
            <a:ext cx="594360" cy="41148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30168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602736"/>
            <a:ext cx="4937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 i="0">
                <a:solidFill>
                  <a:srgbClr val="2B3A55"/>
                </a:solidFill>
                <a:latin typeface="Calibri"/>
              </a:rPr>
              <a:t>λπ sensitivity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950208"/>
            <a:ext cx="49377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Robust: AUC varies by 0.0004 across a 50× range.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602736"/>
            <a:ext cx="594360" cy="411480"/>
          </a:xfrm>
          <a:prstGeom prst="round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630168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602736"/>
            <a:ext cx="4937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 i="0">
                <a:solidFill>
                  <a:srgbClr val="2B3A55"/>
                </a:solidFill>
                <a:latin typeface="Calibri"/>
              </a:rPr>
              <a:t>Sentence-transformer (v1)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950208"/>
            <a:ext cx="49377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FAILED (−0.19 pp). Lossy text round-trip destroyed signal.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43984"/>
            <a:ext cx="594360" cy="41148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71416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443984"/>
            <a:ext cx="4937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 i="0">
                <a:solidFill>
                  <a:srgbClr val="2B3A55"/>
                </a:solidFill>
                <a:latin typeface="Calibri"/>
              </a:rPr>
              <a:t>Reasoning scores (v2)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791456"/>
            <a:ext cx="49377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+0.05 pp AUC, +0.27 pp AP.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443984"/>
            <a:ext cx="594360" cy="411480"/>
          </a:xfrm>
          <a:prstGeom prst="round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471416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443984"/>
            <a:ext cx="4937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 i="0">
                <a:solidFill>
                  <a:srgbClr val="2B3A55"/>
                </a:solidFill>
                <a:latin typeface="Calibri"/>
              </a:rPr>
              <a:t>Feature-level concat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791456"/>
            <a:ext cx="49377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FAILED (−0.59 pp) — motivates the gated residual on YelpChi.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285232"/>
            <a:ext cx="594360" cy="41148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312664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285232"/>
            <a:ext cx="4937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 i="0">
                <a:solidFill>
                  <a:srgbClr val="2B3A55"/>
                </a:solidFill>
                <a:latin typeface="Calibri"/>
              </a:rPr>
              <a:t>Combined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5632704"/>
            <a:ext cx="49377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No negative interactions — prerequisite for the YelpChi result.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Results  |  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Five concrete contributions, ordered from architectural to empirical. Together they constitute the first unified graph-fraud framework that integrates a learned RL policy with LLM-derived reasoning and validates each decision through controlled ablations.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594360" cy="594360"/>
          </a:xfrm>
          <a:prstGeom prst="ellipse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11680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 i="0">
                <a:solidFill>
                  <a:srgbClr val="202020"/>
                </a:solidFill>
                <a:latin typeface="Calibri"/>
              </a:rPr>
              <a:t>Unified GNN + RL + LLM framework architected around a three-pillar, additive design.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70632"/>
            <a:ext cx="594360" cy="594360"/>
          </a:xfrm>
          <a:prstGeom prst="ellipse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43784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62072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 i="0">
                <a:solidFill>
                  <a:srgbClr val="202020"/>
                </a:solidFill>
                <a:latin typeface="Calibri"/>
              </a:rPr>
              <a:t>CAPN: an actor–critic replacement for CARE-GNN's heuristic bandit with per-node thresholds, shaped reward, and LLM-enriched state.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621024"/>
            <a:ext cx="594360" cy="594360"/>
          </a:xfrm>
          <a:prstGeom prst="ellipse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94176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12463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 i="0">
                <a:solidFill>
                  <a:srgbClr val="202020"/>
                </a:solidFill>
                <a:latin typeface="Calibri"/>
              </a:rPr>
              <a:t>Structural LLM reasoning scores (Part 1): six fraud-specific risk scores from Claude Haiku 4.5 over 26 per-node graph statistics.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71416"/>
            <a:ext cx="594360" cy="594360"/>
          </a:xfrm>
          <a:prstGeom prst="ellipse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4456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562856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 i="0">
                <a:solidFill>
                  <a:srgbClr val="202020"/>
                </a:solidFill>
                <a:latin typeface="Calibri"/>
              </a:rPr>
              <a:t>TextFeatureGate (Part 2): gated residual injection of text-risk scores that preserves feature dimension and is reversible.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321808"/>
            <a:ext cx="594360" cy="594360"/>
          </a:xfrm>
          <a:prstGeom prst="ellipse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413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 i="0">
                <a:solidFill>
                  <a:srgbClr val="202020"/>
                </a:solidFill>
                <a:latin typeface="Calibri"/>
              </a:rPr>
              <a:t>Empirical validation: +1.99 pp AUC on YelpChi with p &lt; 0.001; nine Amazon ablations attribute each design decision.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Conclusion  |  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Honest scope of the thesis, and where the framework would most benefit from follow-on work. Limitations are about what was NOT done; future work is about the highest-value extensions.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900" b="1" i="0">
                <a:solidFill>
                  <a:srgbClr val="D62728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Three seeds on YelpChi give tight CIs but limited power for border-line effects (Row 3 vs Row 4).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RL pillar tested only on this benchmark family; no "in the wild" evaluation with concept drift.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B811B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LLM reasoning prompts are not tuned — the template is frozen.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900" b="1" i="0">
                <a:solidFill>
                  <a:srgbClr val="2CA02C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CA02C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Scale to five seeds and additional benchmarks (T-Finance, DGraph-Fin).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CA02C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End-to-end LLM prompt optimisation (DSPy, reward-model tuning).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CA02C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Temporal fraud detection: extend CAPN state with time-aware features.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CA02C"/>
                </a:solidFill>
                <a:latin typeface="Calibri"/>
              </a:rPr>
              <a:t>▸  </a:t>
            </a:r>
            <a:r>
              <a:rPr sz="1300">
                <a:solidFill>
                  <a:srgbClr val="202020"/>
                </a:solidFill>
                <a:latin typeface="Calibri"/>
              </a:rPr>
              <a:t>Compare against newer fraud-GNN baselines (GAGA, BWGNN, FLAG).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Conclusion  |  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18872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8872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200" b="0" i="1">
                <a:solidFill>
                  <a:srgbClr val="CCCCCC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Q&amp;A  |  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Appendix: Dataset Relational Statistics</a:t>
            </a:r>
          </a:p>
          <a:p>
            <a:r>
              <a:rPr sz="1400" i="1">
                <a:solidFill>
                  <a:srgbClr val="555555"/>
                </a:solidFill>
                <a:latin typeface="Calibri"/>
              </a:rPr>
              <a:t>Recomputed from adjacency-list release used in this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155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486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Relation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|E| (undir.)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Avg. Deg.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Fraud Nbrs (fraud)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Fraud Nbrs (benign)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486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Amazon — UPU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175,608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Amazon — USU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3,566,479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597.2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10.3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Amazon — UVU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1,036,737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173.6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YelpChi — RUR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49,315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2.15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92.5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YelpChi — RTR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573,616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24.96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YelpChi — RSR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3,402,743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148.09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20.5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13.5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2356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RUR's near-perfect label homophily (92.5 % fraud nbrs for fraud nodes) is the dominant structural signal on YelpChi.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1368735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Appendix  |  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64592" cy="731520"/>
          </a:xfrm>
          <a:prstGeom prst="rect">
            <a:avLst/>
          </a:prstGeom>
          <a:solidFill>
            <a:srgbClr val="EB8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68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3A55"/>
                </a:solidFill>
                <a:latin typeface="Calibri"/>
              </a:rPr>
              <a:t>Appendix: Unified Training Hyperparameters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8735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1371600"/>
          <a:ext cx="6675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3337560"/>
              </a:tblGrid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Hyperparameter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Policy-weight target  λπ*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Similarity loss weight  λ₁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Critic loss weight  λ_c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Entropy coefficient  λ_H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GNN warmup epochs  E_warm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Policy ramp epochs  E_ramp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Backbone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1 × 10⁻²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Policy LR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3 × 10⁻³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Critic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1 × 10⁻³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Backbone gradient clip (max-norm)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Policy / critic gradient clip (max-norm)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Adam (two instances)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Batch size (YelpChi / Amazon)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1,024 / 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3147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TextFeatureGate init 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−2  (sigmoid ≈ 0.12)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