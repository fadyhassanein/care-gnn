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Camouflage-Aware Policy Network (CAPN)</a:t>
            </a:r>
            <a:br/>
            <a:r>
              <a:t>for Graph-Based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5BA0D0"/>
                </a:solidFill>
                <a:latin typeface="Calibri"/>
              </a:defRPr>
            </a:pPr>
            <a:r>
              <a:t>Master's Thesis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Fady Hassanein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BA0D0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1.  The Problem: Fraud Detection in Networks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2.  CARE-GNN: The Baseline Approach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3.  Our Contribution: CAPN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4.  CAPN Module Roles: GNN, RL, and LLM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5.  The RL Module: How CAPN Learns Thresholds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6.  LLM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7.  Experimental Setup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8.  Results and Analysis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9.  Contributions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Why fraud detection in graphs is challenging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Online platforms face coordinated fraud: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Fake reviews manipulate product ratings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Fraudsters form networks of coordinated behavior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They share products, star ratings, and timing patterns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Traditional methods miss these network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Graph-based approach: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Model users/reviews as nodes in a graph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Connect nodes by shared behaviors (relations)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Use Graph Neural Networks to classify nodes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Goal: identify fraud vs legitimate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Camouflage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Fraudsters actively hide their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Camouflage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Fraudsters mimic legitimate behavior patterns. They write some genuine reviews to appear normal, making their features look similar to real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Relation Camouflage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Fraudsters connect with legitimate users to blend in. They review popular products alongside their targets, creating edges to many real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Label Camouflage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Training data contains mislabeled nodes. Some fraudsters are marked legitimate (or vice versa), teaching the model wrong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Result: Standard GNNs aggregate all neighbor information equally. If a fraudster connects to many legitimate users, the fraud signal gets "averaged out" and the fraudster appears legitimate.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Multi-Relation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Multiple views of the same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Key insight: Use multiple relation types simultaneously. A fraudster may hide in one relation but expose themselves in another.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3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UPU - Same product reviewed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USU - Same star rating given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UVU - Same reviewer category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RUR - Same user wrote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RTR - Same 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RSR - Same star rating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Each relation forms a separate graph over the same nodes. The GNN processes each relation independently, then combines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CARE-GNN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The baseline: Camouflage-Resistant GNN (Dou et al., 2020)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1</a:t>
            </a:r>
            <a:br/>
            <a:r>
              <a:t>(UPU)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2</a:t>
            </a:r>
            <a:br/>
            <a:r>
              <a:t>(USU)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3</a:t>
            </a:r>
            <a:br/>
            <a:r>
              <a:t>(UVU)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1</a:t>
            </a:r>
            <a:br/>
            <a:r>
              <a:t>(filter + aggregate)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83464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2</a:t>
            </a:r>
            <a:br/>
            <a:r>
              <a:t>(filter + aggregate)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84048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3</a:t>
            </a:r>
            <a:br/>
            <a:r>
              <a:t>(filter + aggregate)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560320"/>
            <a:ext cx="22860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Inter-Relation</a:t>
            </a:r>
            <a:br/>
            <a:r>
              <a:t>Aggregation</a:t>
            </a:r>
            <a:br/>
            <a:r>
              <a:t>(combine views)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560320"/>
            <a:ext cx="22860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Classifier</a:t>
            </a:r>
            <a:br/>
            <a:r>
              <a:t>(fraud vs</a:t>
            </a:r>
            <a:br/>
            <a:r>
              <a:t>legitimate)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5029200"/>
            <a:ext cx="25603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RL: Bernoulli Bandit</a:t>
            </a:r>
            <a:br/>
            <a:r>
              <a:t>(1 threshold per relation)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6C00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120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The RL module controls the filtering thresholds.</a:t>
            </a:r>
            <a:br/>
            <a:r>
              <a:t>CARE-GNN uses a simple Bernoulli bandit (one global threshold per relation).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Limitations of CARE-GNN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What motivated our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Global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Same threshold for ALL nodes in a relation. A hub node (500 neighbors) uses the same filter as a peripheral node (3 neighbors).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Stateless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 Bernoulli bandit does not look at individual nodes. It cannot adapt to local graph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Binary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Only knows "accuracy up" or "accuracy down". No signal about which nodes or relations improved.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Linear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 auxiliary label predictor is a single linear layer with limited capacity to learn complex fraud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Solution: CAPN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Camouflage-Aware Policy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Core idea: Replace the heuristic RL with a learned neural policy that makes per-node, per-relation threshold decisions based on local context.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 (Original)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 (Ours)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RL Algorithm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Bernoulli bandit (heuristic)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REINFORCE (policy gradient)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Thresholds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global per relation (3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Per-node, per-relation (unique)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Action Space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Up/down by fixed step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Sample from Beta(alpha, beta)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(stateless)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Features + confidence + structure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Binary (accuracy up/down)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Shaped (distance + accuracy + reg.)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(hidden layer + ReLU)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2E6B9E"/>
                </a:solidFill>
                <a:latin typeface="Calibri"/>
              </a:defRPr>
            </a:pPr>
            <a:r>
              <a:t>Analogy: CARE-GNN is a thermostat (one temperature for the building). CAPN is smart room sensors (personalized temperature per room).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CAPN: Three Integrated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Each module has a distinct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4747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GNN  —  The 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Role: Classify each node as fraud or legitimate</a:t>
            </a:r>
            <a:br/>
            <a:br/>
            <a:r>
              <a:t>• Aggregates filtered neighbor features</a:t>
            </a:r>
            <a:br/>
            <a:r>
              <a:t>  per relation (intra-aggregation)</a:t>
            </a:r>
            <a:br/>
            <a:r>
              <a:t>• Combines 3 relations into one embedding</a:t>
            </a:r>
            <a:br/>
            <a:r>
              <a:t>  (inter-aggregation)</a:t>
            </a:r>
            <a:br/>
            <a:r>
              <a:t>• Passes through MLP label predictor</a:t>
            </a:r>
            <a:br/>
            <a:r>
              <a:t>  to get fraud probability</a:t>
            </a:r>
            <a:br/>
            <a:br/>
            <a:r>
              <a:t>Output: Fraud probability + confidence</a:t>
            </a:r>
            <a:br/>
            <a:r>
              <a:t>score fed back into RL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RL  —  The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Role: Decide how many neighbors GNN sees</a:t>
            </a:r>
            <a:br/>
            <a:br/>
            <a:r>
              <a:t>• Builds state vector per node: features,</a:t>
            </a:r>
            <a:br/>
            <a:r>
              <a:t>  confidence, degree, distances, LLM scores</a:t>
            </a:r>
            <a:br/>
            <a:r>
              <a:t>• Neural network outputs Beta(α, β) params</a:t>
            </a:r>
            <a:br/>
            <a:r>
              <a:t>• Samples threshold t ∈ [0, 1] per node</a:t>
            </a:r>
            <a:br/>
            <a:r>
              <a:t>• Receives shaped reward from GNN output</a:t>
            </a:r>
            <a:br/>
            <a:r>
              <a:t>• Updates via REINFORCE policy gradient</a:t>
            </a:r>
            <a:br/>
            <a:br/>
            <a:r>
              <a:t>Output: Filtering threshold per node</a:t>
            </a:r>
            <a:br/>
            <a:r>
              <a:t>per relation (~35,000 on Amazon)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3474720" cy="5486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 —  The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Role: Inject fraud domain knowledge</a:t>
            </a:r>
            <a:br/>
            <a:r>
              <a:t>      (one-time preprocessing)</a:t>
            </a:r>
            <a:br/>
            <a:br/>
            <a:r>
              <a:t>• Priors: Claude reads dataset structure,</a:t>
            </a:r>
            <a:br/>
            <a:r>
              <a:t>  sets initial alpha/beta biases for RL</a:t>
            </a:r>
            <a:br/>
            <a:r>
              <a:t>  policy — warm start before training</a:t>
            </a:r>
            <a:br/>
            <a:br/>
            <a:r>
              <a:t>• Reasoning Scores: per-node structural</a:t>
            </a:r>
            <a:br/>
            <a:r>
              <a:t>  profile → 6 risk assessments (JSON)</a:t>
            </a:r>
            <a:br/>
            <a:r>
              <a:t>  stored as [N×6] tensor, fed into RL</a:t>
            </a:r>
            <a:br/>
            <a:r>
              <a:t>  state every batch</a:t>
            </a:r>
            <a:br/>
            <a:br/>
            <a:r>
              <a:t>Output: Priors + [N×6] risk scores tensor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6C00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77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6C00"/>
                </a:solidFill>
                <a:latin typeface="Calibri"/>
              </a:defRPr>
            </a:pPr>
            <a:r>
              <a:t>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B3A5C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B3A5C"/>
                </a:solidFill>
                <a:latin typeface="Calibri"/>
              </a:defRPr>
            </a:pPr>
            <a:r>
              <a:t>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2E6B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E6B9E"/>
                </a:solidFill>
                <a:latin typeface="Calibri"/>
              </a:defRPr>
            </a:pPr>
            <a: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6C00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6C00"/>
                </a:solidFill>
                <a:latin typeface="Calibri"/>
              </a:defRPr>
            </a:pPr>
            <a:r>
              <a:t>priors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572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Flow: LLM priors warm-start the RL policy before training. Each batch: RL reads LLM scores in the state vector → outputs thresholds → GNN filters neighbors using thresholds → classifies nodes → accuracy &amp; distance feed back to RL as reward → RL improves.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Analogy: LLM is the tutor (advice before training).  RL is the study strategy planner.  GNN is the student.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RL Loop in CAPN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How the policy learns to set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01168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Observe</a:t>
            </a:r>
            <a:br/>
            <a:r>
              <a:t>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Node features, confidence,</a:t>
            </a:r>
            <a:br/>
            <a:r>
              <a:t>degree, distances, overlap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45920"/>
            <a:ext cx="2011680" cy="914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Policy</a:t>
            </a:r>
            <a:br/>
            <a:r>
              <a:t>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Neural net outputs</a:t>
            </a:r>
            <a:br/>
            <a:r>
              <a:t>alpha, beta per 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91440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Sample</a:t>
            </a:r>
            <a:br/>
            <a:r>
              <a:t>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Draw threshold from</a:t>
            </a:r>
            <a:br/>
            <a:r>
              <a:t>Beta(alpha, beta)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45920"/>
            <a:ext cx="201168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GNN</a:t>
            </a:r>
            <a:br/>
            <a: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Use threshold to select</a:t>
            </a:r>
            <a:br/>
            <a:r>
              <a:t>which neighbors to 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645920"/>
            <a:ext cx="2011680" cy="9144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Compute</a:t>
            </a:r>
            <a:br/>
            <a:r>
              <a:t>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Distance improvement +</a:t>
            </a:r>
            <a:br/>
            <a:r>
              <a:t>accuracy + regularization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86C00"/>
                </a:solidFill>
                <a:latin typeface="Calibri"/>
              </a:defRPr>
            </a:pPr>
            <a:r>
              <a:t>↺  Update policy weights using REINFORCE: loss = -log_prob(threshold) x 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This loop runs for every batch in every epoch. Over time, the policy learns:</a:t>
            </a:r>
            <a:br/>
            <a:r>
              <a:t>•  High-degree nodes with low confidence need stricter filtering</a:t>
            </a:r>
            <a:br/>
            <a:r>
              <a:t>•  Nodes with mixed neighborhoods benefit from tighter thresholds</a:t>
            </a:r>
            <a:br/>
            <a:r>
              <a:t>•  Peripheral nodes can afford looser thresholds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Beta Distribution for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Natural exploration-exploitation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The policy outputs alpha and beta parameters for a Beta distribution over [0, 1]. The threshold is sampled from this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474720" cy="54864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Early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1, beta = 1</a:t>
            </a:r>
            <a:br/>
            <a:br/>
            <a:r>
              <a:t>Uniform distribution</a:t>
            </a:r>
            <a:br/>
            <a:r>
              <a:t>Explores all thresholds equally</a:t>
            </a:r>
            <a:br/>
            <a:r>
              <a:t>The policy is "trying everything"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4747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Mid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3, beta = 2</a:t>
            </a:r>
            <a:br/>
            <a:br/>
            <a:r>
              <a:t>Slightly skewed toward higher values</a:t>
            </a:r>
            <a:br/>
            <a:r>
              <a:t>Starting to favor what works</a:t>
            </a:r>
            <a:br/>
            <a:r>
              <a:t>Still exploring alternatives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560320"/>
            <a:ext cx="347472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Late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10, beta = 3</a:t>
            </a:r>
            <a:br/>
            <a:br/>
            <a:r>
              <a:t>Concentrated near optimal threshold</a:t>
            </a:r>
            <a:br/>
            <a:r>
              <a:t>Exploiting the best value found</a:t>
            </a:r>
            <a:br/>
            <a:r>
              <a:t>High confidence in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Why Beta? It naturally lives on [0,1] (perfect for thresholds) and its shape evolves from exploration to exploitation as the policy learns - no manual schedule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Shaped 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Rich learning signal for the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Reward = 0.5 x Distance + 0.3 x Accuracy + 0.2 x Regularization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47472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Distance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Did the threshold make fraud nodes</a:t>
            </a:r>
            <a:br/>
            <a:r>
              <a:t>more separable from legitimate nodes</a:t>
            </a:r>
            <a:br/>
            <a:r>
              <a:t>in the embedding space?</a:t>
            </a:r>
            <a:br/>
            <a:br/>
            <a:r>
              <a:t>Uses Multi-View Distance metric</a:t>
            </a:r>
            <a:br/>
            <a:r>
              <a:t>across all 3 relations.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47472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Accuracy (30%)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Did the batch classification</a:t>
            </a:r>
            <a:br/>
            <a:r>
              <a:t>accuracy improve?</a:t>
            </a:r>
            <a:br/>
            <a:br/>
            <a:r>
              <a:t>Same signal as CARE-GNN but</a:t>
            </a:r>
            <a:br/>
            <a:r>
              <a:t>computed per-batch for</a:t>
            </a:r>
            <a:br/>
            <a:r>
              <a:t>finer granularity.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3774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Regularization (20%)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Penalty for extreme thresholds</a:t>
            </a:r>
            <a:br/>
            <a:r>
              <a:t>(near 0 or near 1).</a:t>
            </a:r>
            <a:br/>
            <a:br/>
            <a:r>
              <a:t>Prevents collapse to trivial</a:t>
            </a:r>
            <a:br/>
            <a:r>
              <a:t>solutions: "filter everything"</a:t>
            </a:r>
            <a:br/>
            <a:r>
              <a:t>or "keep everything".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0392B"/>
                </a:solidFill>
                <a:latin typeface="Calibri"/>
              </a:defRPr>
            </a:pPr>
            <a:r>
              <a:t>vs CARE-GNN: Binary reward only knows "accuracy up/down" for the entire epoch.</a:t>
            </a:r>
            <a:br/>
            <a:r>
              <a:t>Shaped reward tells the policy WHY a threshold was good or bad.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Supporting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MLP Label Predictor &amp; Multi-View 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MLP Label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Replaces CARE-GNN's single linear layer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Architecture: input -&gt; hidden -&gt; ReLU -&gt; output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More capacity to learn complex fraud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Provides confidence scores for the state vector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Result: +5.20pp Label AUC improvement on Amazon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Multi-View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Measures fraud/legitimate separability across relations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Each relation has a learnable weight (gamma)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Higher gamma = relation is more important for fraud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Provides the distance signal for shaped reward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Adapts over training as the GNN improves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LLM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Using Large Language Models for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v1: Sentence Transformer (Failed)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Approach: Convert node statistics to text,</a:t>
            </a:r>
            <a:br/>
            <a:r>
              <a:t>encode with sentence-transformer (384d),</a:t>
            </a:r>
            <a:br/>
            <a:r>
              <a:t>project to 16d, concat to state.</a:t>
            </a:r>
            <a:br/>
            <a:br/>
            <a:r>
              <a:t>Result: No improvement (-0.07pp Amazon)</a:t>
            </a:r>
            <a:br/>
            <a:br/>
            <a:r>
              <a:t>Why it failed: Lossy round-trip.</a:t>
            </a:r>
            <a:br/>
            <a:r>
              <a:t>The text encoder treats "degree 23" and</a:t>
            </a:r>
            <a:br/>
            <a:r>
              <a:t>"degree 150" as similar strings, destroying</a:t>
            </a:r>
            <a:br/>
            <a:r>
              <a:t>the precise numerical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v2: Claude Reasoning Scores (Works)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Approach: Send node stats to Claude API,</a:t>
            </a:r>
            <a:br/>
            <a:r>
              <a:t>receive 6 structured risk scores (JSON),</a:t>
            </a:r>
            <a:br/>
            <a:r>
              <a:t>directly concat to state vector.</a:t>
            </a:r>
            <a:br/>
            <a:br/>
            <a:r>
              <a:t>Result: +0.06pp AUC, +0.27pp AP</a:t>
            </a:r>
            <a:br/>
            <a:br/>
            <a:r>
              <a:t>Why it works: LLM reasons about</a:t>
            </a:r>
            <a:br/>
            <a:r>
              <a:t>pattern interactions, not just embedding.</a:t>
            </a:r>
            <a:br/>
            <a:r>
              <a:t>"High degree + high disagreement +</a:t>
            </a:r>
            <a:br/>
            <a:r>
              <a:t>low overlap = coordinated fraud"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Key insight: The value of an LLM is in reasoning about patterns, not in embedding text.</a:t>
            </a:r>
            <a:br/>
            <a:r>
              <a:t>Direct numerical reasoning scores preserve semantic understanding without information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Claude Reasoning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6 fraud-relevant assessments per node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Anomaly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unusual is the node's connectivity pattern?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(typical) to 1 (extreme)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uniform is behavior across relations?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(inconsistent) to 1 (uniform)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Neighborhood Risk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suspicious are the neighbors?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(clean) to 1 (mostly fraud)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 Anomaly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statistically unusual are node features?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(normal) to 1 (extreme)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Coordination Signal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Likelihood of coordinated behavior?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(independent) to 1 (coordinated)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isolation vs embeddedness?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(embedded) to 1 (peripheral)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These scores are computed ONCE during preprocessing (not during training).</a:t>
            </a:r>
            <a:br/>
            <a:r>
              <a:t>Cost: ~$3 for Amazon, ~$10 for Yelp. Stored as a tensor and loaded like any feature file.</a:t>
            </a:r>
            <a:br/>
            <a:r>
              <a:t>Template heuristic mode available for zero-cost approximation.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Two datasets with different characteristics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11,944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45,954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Features per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(raw, interpretable)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 (pre-normalized, anonymized)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Fraud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14.44%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UPU, USU, UVU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RUR, RTR, RSR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 / 15% / 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 / 15% / 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Graph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Dense (avg 149 neighbors in RSR)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Amazon: Easier (strong feature predictors, sparser graph)</a:t>
            </a:r>
            <a:br/>
            <a:r>
              <a:t>Yelp: Harder (weak anonymized features, dense noisy graph)</a:t>
            </a:r>
            <a:br/>
            <a:br/>
            <a:r>
              <a:t>Testing on both validates that CAPN generalizes across different data characteristics.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Ablation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8 systematic studies isolating each component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Tests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A1: CAPN vs CARE-GNN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system comparison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(baseline vs CAPN)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A2: Label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vs linear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(linear, MLP alone, MLP+policy)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A3: Reward Shaping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Shaped vs binary reward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(binary, full, dist-only, acc-only)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A4: LLM Priors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(no priors, LLM priors)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A5: Lambda 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loss weight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(0.01, 0.05, 0.1, 0.5)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A6: LLM State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Sentence-transformer 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(base, +LLM state)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A8: LLM State v2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+ reasoning scores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(base, struct, reason, both)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Each study changes ONE variable while keeping everything else constant.</a:t>
            </a:r>
            <a:br/>
            <a:r>
              <a:t>All studies run on both Amazon and Yelp datasets.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Main Result: CAPN vs CARE-GNN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A1 - The headline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0.9445 (+0.47pp)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0.8568 (+0.33pp)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0.8994 (-0.17pp)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0.9306 (+5.20pp)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6B9E"/>
                </a:solidFill>
                <a:latin typeface="Calibri"/>
              </a:defRPr>
            </a:pPr>
            <a:r>
              <a:t>Amazon Dataset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6304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0.7727 (+0.67pp)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0.3997 (+2.18pp)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0.5858 (-2.40pp)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0.7579 (+2.75pp)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6B9E"/>
                </a:solidFill>
                <a:latin typeface="Calibri"/>
              </a:defRPr>
            </a:pPr>
            <a:r>
              <a:t>Yelp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CAPN consistently improves ranking metrics (AUC, AP) on both datasets.</a:t>
            </a:r>
            <a:br/>
            <a:r>
              <a:t>Label AUC improves dramatically (+5.20pp / +2.75pp) due to MLP predictor.</a:t>
            </a:r>
            <a:br/>
            <a:r>
              <a:t>F1 trade-off on Yelp: CAPN optimizes for ranking quality, which can shift the</a:t>
            </a:r>
            <a:br/>
            <a:r>
              <a:t>classification boundary at the default threshold.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Component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What helps and what does not (Amazon)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AUC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A2: MLP Predictor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helps label AUC; policy adds GNN AUC gain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 (combined)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A3: Shaped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shaped variants beat binary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A4: LLM Priors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help on Amazon, hurts on Yelp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+0.08pp / -0.49pp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A5: 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Very stable across all values (0.04pp 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Insensitive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A6: LLM v1 (sent-trans)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Sentence-transformer adds no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A8: LLM v2 (reasoning)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Claude reasoning scores help consistently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+0.06pp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Key takeaway: The policy network and shaped reward are the core contributors.</a:t>
            </a:r>
            <a:br/>
            <a:r>
              <a:t>LLM reasoning scores add a small but consistent boost.</a:t>
            </a:r>
            <a:br/>
            <a:r>
              <a:t>Sentence-transformer approach is fundamentally flawed for numerical graph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LLM Enrichment Results (A8)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Structural features vs reasoning scores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CAPN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Structural (26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0.9436 (-0.09pp)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0.8546 (-0.22pp)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0.8671 (-3.23pp)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Reasoning (6 scores)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0.9450 (+0.06pp)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0.8595 (+0.27pp)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0.9000 (+0.06pp)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Both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0.9431 (-0.13pp)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0.8548 (-0.20pp)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0.8744 (-2.50pp)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Why reasoning works but structural features do not:</a:t>
            </a:r>
            <a:br/>
            <a:br/>
            <a:r>
              <a:t>•  Structural features (26 dims) projected through MLP add noise that disrupts GNN training</a:t>
            </a:r>
            <a:br/>
            <a:r>
              <a:t>•  Reasoning scores (6 dims) are compact and semantically meaningful</a:t>
            </a:r>
            <a:br/>
            <a:r>
              <a:t>•  Each reasoning score directly captures a fraud-relevant concept</a:t>
            </a:r>
            <a:br/>
            <a:r>
              <a:t>•  The policy can learn clear mappings: "high neighborhood risk -&gt; tighter threshold"</a:t>
            </a:r>
            <a:br/>
            <a:br/>
            <a:r>
              <a:t>Note: These are template heuristic scores. Claude API scores (in progress) should be better.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Cross-Dataset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Amazon vs Yelp: what generalizes?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CAPN vs CARE-GNN (AUC)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+0.67pp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CAPN vs CARE-GNN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-0.17pp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-2.40pp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priors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-0.49pp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v1 (sentence-trans)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-0.40pp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Lambda 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0.04pp 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0.04pp 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 (easy)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 (hard)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What generalizes:</a:t>
            </a:r>
            <a:br/>
            <a:r>
              <a:t>•  CAPN improves AUC on both datasets</a:t>
            </a:r>
            <a:br/>
            <a:r>
              <a:t>•  Lambda insensitivity holds on both (good for practitioners)</a:t>
            </a:r>
            <a:br/>
            <a:r>
              <a:t>•  Sentence-transformer fails on both</a:t>
            </a:r>
            <a:br/>
            <a:br/>
            <a:r>
              <a:t>What differs:</a:t>
            </a:r>
            <a:br/>
            <a:r>
              <a:t>•  F1 trade-off much worse on Yelp (harder dataset)</a:t>
            </a:r>
            <a:br/>
            <a:r>
              <a:t>•  LLM priors help on Amazon (interpretable features) but hurt on Yelp (anonymized)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Summary of our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Policy Network: Per-node adaptive thresholds via REINFORCE, replacing heuristic Bernoulli bandit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Shaped Reward: Three-component reward (distance + accuracy + regularization) for richer RL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MLP Label Predictor: +5.20pp Label AUC improvement over linear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9476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LLM Reasoning Integration: Novel Claude API risk scores for policy state 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Comprehensive Ablation: 8 studies x 2 datasets providing evidence for each design 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5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Multi-Dataset Validation: Amazon (raw features) and Yelp (anonymized) with different characteristics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0392B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F1 trade-off on Yelp (-2.40pp) due to ranking-optimized thresholds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Structural features (26d) add noise rather than helping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LLM priors hurt on anonymized datasets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CAPN is ~7x slower than CARE-GNN (REINFORCE overhead)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AE60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F1-aware reward component to address classification trade-off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Actual Claude API reasoning scores (currently generating)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Yelp-specific hyperparameter tuning for higher baseline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Feature selection for structural enrichment (fewer, better features)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5BA0D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Fady Hassanein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